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22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875" y="2765821"/>
            <a:ext cx="5810250" cy="11791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45618" y="762000"/>
            <a:ext cx="6100762" cy="754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0" sz="5400" i="0" u="none">
                <a:solidFill>
                  <a:srgbClr val="FFFFFF"/>
                </a:solidFill>
                <a:latin typeface="Inter ExtraBold"/>
              </a:rPr>
              <a:t>Git &amp;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90875" y="1706760"/>
            <a:ext cx="58102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b="0" sz="2400" i="0" u="none">
                <a:solidFill>
                  <a:srgbClr val="F05032"/>
                </a:solidFill>
                <a:latin typeface="Inter SemiBold"/>
              </a:rPr>
              <a:t>Value Added Program (VAP) •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90875" y="3070621"/>
            <a:ext cx="5810250" cy="42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b="0" sz="2100" i="0" u="none">
                <a:solidFill>
                  <a:srgbClr val="FFFFFF"/>
                </a:solidFill>
                <a:latin typeface="Inter SemiBold"/>
              </a:rPr>
              <a:t>Introduction to Version Control and Git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90875" y="3640187"/>
            <a:ext cx="5810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971675"/>
            <a:ext cx="52387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739800"/>
            <a:ext cx="52387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0F172A"/>
                </a:solidFill>
                <a:latin typeface="Inter SemiBold"/>
              </a:rPr>
              <a:t>By the end of this session, students will understand: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971675"/>
            <a:ext cx="3076575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7250" y="2600622"/>
            <a:ext cx="49530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What is Version Control?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088183"/>
            <a:ext cx="49530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Why do we need Version Control?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575744"/>
            <a:ext cx="49530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Centralized vs Distributed Version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063305"/>
            <a:ext cx="49530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History and evolution of Git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550866"/>
            <a:ext cx="49530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Git vs 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5038427"/>
            <a:ext cx="49530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Three important areas of Git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5525988"/>
            <a:ext cx="49530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Basic Git terminology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2619672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3107233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3594794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082355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4569916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5057477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5545038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0F172A"/>
                </a:solidFill>
                <a:latin typeface="Inter ExtraBold"/>
              </a:rPr>
              <a:t>Learning Objectives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347019"/>
            <a:ext cx="5238750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938712"/>
            <a:ext cx="5238750" cy="20984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466850"/>
            <a:ext cx="52387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475569"/>
                </a:solidFill>
                <a:latin typeface="Inter"/>
              </a:rPr>
              <a:t>Version Control System (VCS)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is a software tool used to track changes in files and source code over time.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275" y="2356544"/>
            <a:ext cx="5219700" cy="3790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7250" y="2615207"/>
            <a:ext cx="49530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Maintains different versions of a project.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102768"/>
            <a:ext cx="49530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Helps developers work together concurrently.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590329"/>
            <a:ext cx="49530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Allows restoration of previous stable versions.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077890"/>
            <a:ext cx="49530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Maintains a history of </a:t>
            </a:r>
            <a:r>
              <a:rPr b="0" sz="1650" i="1" u="none">
                <a:solidFill>
                  <a:srgbClr val="475569"/>
                </a:solidFill>
                <a:latin typeface="Inter"/>
              </a:rPr>
              <a:t>who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changed </a:t>
            </a:r>
            <a:r>
              <a:rPr b="0" sz="1650" i="1" u="none">
                <a:solidFill>
                  <a:srgbClr val="475569"/>
                </a:solidFill>
                <a:latin typeface="Inter"/>
              </a:rPr>
              <a:t>what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and </a:t>
            </a:r>
            <a:r>
              <a:rPr b="0" sz="1650" i="1" u="none">
                <a:solidFill>
                  <a:srgbClr val="475569"/>
                </a:solidFill>
                <a:latin typeface="Inter"/>
              </a:rPr>
              <a:t>when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375" y="5110162"/>
            <a:ext cx="2286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00" i="1" u="none">
                <a:solidFill>
                  <a:srgbClr val="64748B"/>
                </a:solidFill>
                <a:latin typeface="Fira Code"/>
              </a:rPr>
              <a:t># Instead of doing this: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6404967"/>
            <a:ext cx="3810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00" i="1" u="none">
                <a:solidFill>
                  <a:srgbClr val="64748B"/>
                </a:solidFill>
                <a:latin typeface="Fira Code"/>
              </a:rPr>
              <a:t># Git maintains versions systematically: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2634257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3121818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3609379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096940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0F172A"/>
                </a:solidFill>
                <a:latin typeface="Inter ExtraBold"/>
              </a:rPr>
              <a:t>What is Version Control?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55861"/>
            <a:ext cx="5238750" cy="444162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655861"/>
            <a:ext cx="5238750" cy="44416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046386"/>
            <a:ext cx="468058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EF4444"/>
                </a:solidFill>
                <a:latin typeface="Inter ExtraBold"/>
              </a:rPr>
              <a:t>Without VCS</a:t>
            </a:r>
          </a:p>
        </p:txBody>
      </p:sp>
      <p:sp>
        <p:nvSpPr>
          <p:cNvPr id="6" name="Rectangle 5"/>
          <p:cNvSpPr/>
          <p:nvPr/>
        </p:nvSpPr>
        <p:spPr>
          <a:xfrm>
            <a:off x="962025" y="2465486"/>
            <a:ext cx="4457700" cy="19050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72275" y="2046386"/>
            <a:ext cx="468058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10B981"/>
                </a:solidFill>
                <a:latin typeface="Inter ExtraBold"/>
              </a:rPr>
              <a:t>With VCS</a:t>
            </a:r>
          </a:p>
        </p:txBody>
      </p:sp>
      <p:sp>
        <p:nvSpPr>
          <p:cNvPr id="8" name="Rectangle 7"/>
          <p:cNvSpPr/>
          <p:nvPr/>
        </p:nvSpPr>
        <p:spPr>
          <a:xfrm>
            <a:off x="6772275" y="2465486"/>
            <a:ext cx="4457700" cy="19050"/>
          </a:xfrm>
          <a:prstGeom prst="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7775" y="2598836"/>
            <a:ext cx="41719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Difficult to track file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7775" y="3086397"/>
            <a:ext cx="41719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Accidental deletion can cause data loss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7775" y="3573958"/>
            <a:ext cx="41719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Difficult for multiple developers to work together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7775" y="4396680"/>
            <a:ext cx="41719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Difficult to identify who made a specific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7775" y="5219402"/>
            <a:ext cx="41719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Difficult to return to an older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8025" y="2598836"/>
            <a:ext cx="41719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Track changes systematically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8025" y="3086397"/>
            <a:ext cx="41719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Seamless collaboration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8025" y="3573958"/>
            <a:ext cx="41719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Reliable backup and recovery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8025" y="4061519"/>
            <a:ext cx="41719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Complete version history audit trail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8025" y="4549080"/>
            <a:ext cx="41719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Powerful branching and merging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8025" y="5036641"/>
            <a:ext cx="41719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Optimized team 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2617886"/>
            <a:ext cx="1333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EF4444"/>
                </a:solidFill>
                <a:latin typeface="Inter"/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025" y="3105447"/>
            <a:ext cx="1333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EF4444"/>
                </a:solidFill>
                <a:latin typeface="Inter"/>
              </a:rP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025" y="3593008"/>
            <a:ext cx="1333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EF4444"/>
                </a:solidFill>
                <a:latin typeface="Inter"/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025" y="4415730"/>
            <a:ext cx="1333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EF4444"/>
                </a:solidFill>
                <a:latin typeface="Inter"/>
              </a:rP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025" y="5238452"/>
            <a:ext cx="1333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EF4444"/>
                </a:solidFill>
                <a:latin typeface="Inter"/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72275" y="2617886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72275" y="3105447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2275" y="3593008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72275" y="4080569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72275" y="456813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2275" y="5055691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0F172A"/>
                </a:solidFill>
                <a:latin typeface="Inter ExtraBold"/>
              </a:rPr>
              <a:t>Why Do We Need Version Control?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547419"/>
            <a:ext cx="110490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1" u="none">
                <a:solidFill>
                  <a:srgbClr val="475569"/>
                </a:solidFill>
                <a:latin typeface="Inter"/>
              </a:rPr>
              <a:t>Git belongs to the Distributed Version Control System (DVCS) family.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727894"/>
            <a:ext cx="11049000" cy="35337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1727894"/>
          <a:ext cx="11048999" cy="3533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375868"/>
                <a:gridCol w="5251698"/>
                <a:gridCol w="2421433"/>
              </a:tblGrid>
              <a:tr h="883443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FFFFFF"/>
                          </a:solidFill>
                          <a:latin typeface="Inter SemiBold"/>
                        </a:rPr>
                        <a:t>Architecture Type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FFFFFF"/>
                          </a:solidFill>
                          <a:latin typeface="Inter SemiBold"/>
                        </a:rPr>
                        <a:t>Description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FFFFFF"/>
                          </a:solidFill>
                          <a:latin typeface="Inter SemiBold"/>
                        </a:rPr>
                        <a:t>Examples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883443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475569"/>
                          </a:solidFill>
                          <a:latin typeface="Inter"/>
                        </a:rPr>
                        <a:t>Local</a:t>
                      </a:r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 Version Control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Versions maintained on a single local computer database.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RCS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83443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475569"/>
                          </a:solidFill>
                          <a:latin typeface="Inter"/>
                        </a:rPr>
                        <a:t>Centralized</a:t>
                      </a:r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 Version Control (CVCS)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Single server stores all versioned files; clients check out files.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SVN</a:t>
                      </a:r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, </a:t>
                      </a:r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CVS</a:t>
                      </a:r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, </a:t>
                      </a:r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Perforce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83446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475569"/>
                          </a:solidFill>
                          <a:latin typeface="Inter"/>
                        </a:rPr>
                        <a:t>Distributed</a:t>
                      </a:r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 Version Control (DVCS)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Every developer has a full mirror of the repository and history.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Git</a:t>
                      </a:r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, </a:t>
                      </a:r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Mercurial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71500" y="2370832"/>
            <a:ext cx="33758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47368" y="2370832"/>
            <a:ext cx="52516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99066" y="2370832"/>
            <a:ext cx="24214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332857"/>
            <a:ext cx="33758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47368" y="3332857"/>
            <a:ext cx="52516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99066" y="3332857"/>
            <a:ext cx="24214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4294882"/>
            <a:ext cx="33758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47368" y="4294882"/>
            <a:ext cx="52516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99066" y="4294882"/>
            <a:ext cx="24214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0F172A"/>
                </a:solidFill>
                <a:latin typeface="Inter ExtraBold"/>
              </a:rPr>
              <a:t>Types of Version Control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971675"/>
            <a:ext cx="5238750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394596"/>
            <a:ext cx="5238750" cy="13829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1971675"/>
            <a:ext cx="5238750" cy="381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7250" y="1975842"/>
            <a:ext cx="49530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Versions are maintained strictly on a single local computer.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2798564"/>
            <a:ext cx="49530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Changes are stored in a local database 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286125"/>
            <a:ext cx="49530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Simple to use for solo, small-scale projects.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773685"/>
            <a:ext cx="49530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475569"/>
                </a:solidFill>
                <a:latin typeface="Inter"/>
              </a:rPr>
              <a:t>Example: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RCS (Revision Control System)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4537471"/>
            <a:ext cx="48196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991B1B"/>
                </a:solidFill>
                <a:latin typeface="Inter"/>
              </a:rPr>
              <a:t>Critical Limitation:</a:t>
            </a:r>
            <a:r>
              <a:t>
</a:t>
            </a:r>
            <a:r>
              <a:rPr b="0" sz="1350" i="0" u="none">
                <a:solidFill>
                  <a:srgbClr val="991B1B"/>
                </a:solidFill>
                <a:latin typeface="Inter"/>
              </a:rPr>
              <a:t> If the local system's hard drive is damaged or corrupted, the entire version history and project data may be permanently lost. Collaboration is also highly restricted.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1994892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2817614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3305175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3792735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0F172A"/>
                </a:solidFill>
                <a:latin typeface="Inter ExtraBold"/>
              </a:rPr>
              <a:t>Local Version Control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408039"/>
            <a:ext cx="5238750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096595"/>
            <a:ext cx="5238750" cy="10626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466850"/>
            <a:ext cx="52387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475569"/>
                </a:solidFill>
                <a:latin typeface="Inter"/>
              </a:rPr>
              <a:t>Architecture Overview: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235773"/>
            <a:ext cx="52387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475569"/>
                </a:solidFill>
                <a:latin typeface="Inter"/>
              </a:rPr>
              <a:t>Common Examples: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SVN (Subversion)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, 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CVS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, 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Perforce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2408039"/>
            <a:ext cx="5238750" cy="381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1944885"/>
            <a:ext cx="49530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One central repository server stores the entire project.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2767607"/>
            <a:ext cx="49530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Developers connect over a network to the central server.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3590329"/>
            <a:ext cx="49530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Users </a:t>
            </a:r>
            <a:r>
              <a:rPr b="0" sz="1650" i="1" u="none">
                <a:solidFill>
                  <a:srgbClr val="475569"/>
                </a:solidFill>
                <a:latin typeface="Inter"/>
              </a:rPr>
              <a:t>commit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changes directly to the central repository.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4413051"/>
            <a:ext cx="49530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Users </a:t>
            </a:r>
            <a:r>
              <a:rPr b="0" sz="1650" i="1" u="none">
                <a:solidFill>
                  <a:srgbClr val="475569"/>
                </a:solidFill>
                <a:latin typeface="Inter"/>
              </a:rPr>
              <a:t>update/checkout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files directly from the server.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1963935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2786657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3609379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4432101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0F172A"/>
                </a:solidFill>
                <a:latin typeface="Inter ExtraBold"/>
              </a:rPr>
              <a:t>Centralized Version Control System (CVCS)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66850"/>
            <a:ext cx="5238750" cy="493692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466850"/>
            <a:ext cx="5238750" cy="49369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582" y="2428875"/>
            <a:ext cx="468058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1E293B"/>
                </a:solidFill>
                <a:latin typeface="Inter ExtraBold"/>
              </a:rPr>
              <a:t>Advantages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0832" y="2428875"/>
            <a:ext cx="468058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1E293B"/>
                </a:solidFill>
                <a:latin typeface="Inter ExtraBold"/>
              </a:rPr>
              <a:t>Disadvantages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0375" y="1857375"/>
            <a:ext cx="38100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47775" y="3057525"/>
            <a:ext cx="41719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Centralized administration and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7775" y="3880246"/>
            <a:ext cx="41719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Easy to control user access and permissions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7775" y="4702968"/>
            <a:ext cx="41719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Single authoritative source of truth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7775" y="5190529"/>
            <a:ext cx="41719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Suitable for traditional team structures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0625" y="1857375"/>
            <a:ext cx="381000" cy="381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58025" y="3057525"/>
            <a:ext cx="41719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Requires constant network/server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8025" y="3545085"/>
            <a:ext cx="41719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475569"/>
                </a:solidFill>
                <a:latin typeface="Inter"/>
              </a:rPr>
              <a:t>Single point of failure: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If the server goes down, nobody can collaborate or save versioned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8025" y="4702968"/>
            <a:ext cx="41719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Extremely limited offline work capabilities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8025" y="5190529"/>
            <a:ext cx="41719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Slower operations (requires network round-trip)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3076575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3899296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025" y="4722018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5209579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2275" y="3076575"/>
            <a:ext cx="1333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EF4444"/>
                </a:solidFill>
                <a:latin typeface="Inter"/>
              </a:rP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2275" y="3564135"/>
            <a:ext cx="1333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EF4444"/>
                </a:solidFill>
                <a:latin typeface="Inter"/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72275" y="4722018"/>
            <a:ext cx="1333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EF4444"/>
                </a:solidFill>
                <a:latin typeface="Inter"/>
              </a:rP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2275" y="5209579"/>
            <a:ext cx="1333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EF4444"/>
                </a:solidFill>
                <a:latin typeface="Inter"/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0F172A"/>
                </a:solidFill>
                <a:latin typeface="Inter ExtraBold"/>
              </a:rPr>
              <a:t>CVCS: Pros &amp; Cons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971675"/>
            <a:ext cx="52387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585614"/>
            <a:ext cx="52387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In DVCS, clients don't just check out the latest snapshot; they fully mirror the repository.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689699"/>
            <a:ext cx="52387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475569"/>
                </a:solidFill>
                <a:latin typeface="Inter"/>
              </a:rPr>
              <a:t>Examples: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Git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, 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Mercurial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971675"/>
            <a:ext cx="5238750" cy="381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7250" y="2398811"/>
            <a:ext cx="49530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475569"/>
                </a:solidFill>
                <a:latin typeface="Inter"/>
              </a:rPr>
              <a:t>Every developer gets a complete, independent copy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of the repository, including its full history.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221533"/>
            <a:ext cx="49530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Each developer can work offline and independently.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044255"/>
            <a:ext cx="49530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Changes are later synchronized between repositories.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866977"/>
            <a:ext cx="49530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If a server dies, any client repository can be copied back to restore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2417861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3240583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063305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886027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0F172A"/>
                </a:solidFill>
                <a:latin typeface="Inter ExtraBold"/>
              </a:rPr>
              <a:t>Distributed Version Control System (DVCS)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1581150"/>
            <a:ext cx="11049000" cy="45910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1581150"/>
          <a:ext cx="11048998" cy="4591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923728"/>
                <a:gridCol w="4292500"/>
                <a:gridCol w="3832770"/>
              </a:tblGrid>
              <a:tr h="655864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FFFFFF"/>
                          </a:solidFill>
                          <a:latin typeface="Inter SemiBold"/>
                        </a:rPr>
                        <a:t>Feature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FFFFFF"/>
                          </a:solidFill>
                          <a:latin typeface="Inter SemiBold"/>
                        </a:rPr>
                        <a:t>Centralized (CVCS)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FFFFFF"/>
                          </a:solidFill>
                          <a:latin typeface="Inter SemiBold"/>
                        </a:rPr>
                        <a:t>Distributed (DVCS)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55864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475569"/>
                          </a:solidFill>
                          <a:latin typeface="Inter"/>
                        </a:rPr>
                        <a:t>Repository Location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Single Central Server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Every developer has a full copy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55864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475569"/>
                          </a:solidFill>
                          <a:latin typeface="Inter"/>
                        </a:rPr>
                        <a:t>Offline Work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Very Limited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475569"/>
                          </a:solidFill>
                          <a:latin typeface="Inter"/>
                        </a:rPr>
                        <a:t>Strongly Supported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55864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475569"/>
                          </a:solidFill>
                          <a:latin typeface="Inter"/>
                        </a:rPr>
                        <a:t>Server Dependency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High (Constant connection needed)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Lower (Only for syncing)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55864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475569"/>
                          </a:solidFill>
                          <a:latin typeface="Inter"/>
                        </a:rPr>
                        <a:t>Backup / Redundancy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Mainly relies on the server backups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Multiple natural copies exist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55864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475569"/>
                          </a:solidFill>
                          <a:latin typeface="Inter"/>
                        </a:rPr>
                        <a:t>Speed of Operations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Network dependent (Slower)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Local operations (</a:t>
                      </a:r>
                      <a:r>
                        <a:rPr b="1" sz="1500" i="0" u="none">
                          <a:solidFill>
                            <a:srgbClr val="475569"/>
                          </a:solidFill>
                          <a:latin typeface="Inter"/>
                        </a:rPr>
                        <a:t>Very Fast</a:t>
                      </a:r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55866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475569"/>
                          </a:solidFill>
                          <a:latin typeface="Inter"/>
                        </a:rPr>
                        <a:t>Primary Example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SVN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475569"/>
                          </a:solidFill>
                          <a:latin typeface="Inter"/>
                        </a:rPr>
                        <a:t>Git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1500" y="2224087"/>
            <a:ext cx="29237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95228" y="2224087"/>
            <a:ext cx="4292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87729" y="2224087"/>
            <a:ext cx="38327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881312"/>
            <a:ext cx="29237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95228" y="2881312"/>
            <a:ext cx="4292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87729" y="2881312"/>
            <a:ext cx="38327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3538537"/>
            <a:ext cx="29237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95228" y="3538537"/>
            <a:ext cx="4292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87729" y="3538537"/>
            <a:ext cx="38327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4195762"/>
            <a:ext cx="29237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95228" y="4195762"/>
            <a:ext cx="4292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87729" y="4195762"/>
            <a:ext cx="38327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4852987"/>
            <a:ext cx="29237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95228" y="4852987"/>
            <a:ext cx="4292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87729" y="4852987"/>
            <a:ext cx="38327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" y="5510212"/>
            <a:ext cx="29237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95228" y="5510212"/>
            <a:ext cx="4292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87729" y="5510212"/>
            <a:ext cx="38327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0F172A"/>
                </a:solidFill>
                <a:latin typeface="Inter ExtraBold"/>
              </a:rPr>
              <a:t>Comparison: Centralized vs Distributed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5481637"/>
            <a:ext cx="9525000" cy="11123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1625" y="5672137"/>
            <a:ext cx="9096375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1800" i="0" u="none">
                <a:solidFill>
                  <a:srgbClr val="0369A1"/>
                </a:solidFill>
                <a:latin typeface="Inter"/>
              </a:rPr>
              <a:t>Key Takeaway:</a:t>
            </a:r>
            <a:r>
              <a:rPr b="0" sz="1800" i="0" u="none">
                <a:solidFill>
                  <a:srgbClr val="0369A1"/>
                </a:solidFill>
                <a:latin typeface="Inter"/>
              </a:rPr>
              <a:t> Git tracks </a:t>
            </a:r>
            <a:r>
              <a:rPr b="0" sz="1800" i="1" u="none">
                <a:solidFill>
                  <a:srgbClr val="0369A1"/>
                </a:solidFill>
                <a:latin typeface="Inter"/>
              </a:rPr>
              <a:t>snapshots</a:t>
            </a:r>
            <a:r>
              <a:rPr b="0" sz="1800" i="0" u="none">
                <a:solidFill>
                  <a:srgbClr val="0369A1"/>
                </a:solidFill>
                <a:latin typeface="Inter"/>
              </a:rPr>
              <a:t> of your project over time locally, not just file differences.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2125" y="1466850"/>
            <a:ext cx="90963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F172A"/>
                </a:solidFill>
                <a:latin typeface="Inter"/>
              </a:rPr>
              <a:t>Distributed VCS: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Git is a Distributed Version Control System where every user holds a full repository mirror.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62125" y="2375296"/>
            <a:ext cx="6124575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F172A"/>
                </a:solidFill>
                <a:latin typeface="Inter"/>
              </a:rPr>
              <a:t>Creator: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Created by Linus Torvalds (creator of Linux) in 2005.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2125" y="2948582"/>
            <a:ext cx="90963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F172A"/>
                </a:solidFill>
                <a:latin typeface="Inter"/>
              </a:rPr>
              <a:t>Origin: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Originally developed specifically for managing the massive Linux kernel source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62125" y="3857029"/>
            <a:ext cx="55816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F172A"/>
                </a:solidFill>
                <a:latin typeface="Inter"/>
              </a:rPr>
              <a:t>Open Source: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Completely open-source and free to 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2125" y="4430315"/>
            <a:ext cx="90963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F172A"/>
                </a:solidFill>
                <a:latin typeface="Inter"/>
              </a:rPr>
              <a:t>Performance: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Designed inherently for lightning speed, data reliability, and non-linear distributed development.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1500187"/>
            <a:ext cx="219075" cy="2571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408634"/>
            <a:ext cx="219075" cy="2571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2981920"/>
            <a:ext cx="247650" cy="2571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3500" y="3890367"/>
            <a:ext cx="276225" cy="2571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3500" y="4463653"/>
            <a:ext cx="219075" cy="2571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0F172A"/>
                </a:solidFill>
                <a:latin typeface="Inter ExtraBold"/>
              </a:rPr>
              <a:t>What is Git?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3848100"/>
            <a:ext cx="11049000" cy="571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3328" y="4210050"/>
            <a:ext cx="2464214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F05032"/>
                </a:solidFill>
                <a:latin typeface="Inter ExtraBold"/>
              </a:rPr>
              <a:t>Pre-2005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648200"/>
            <a:ext cx="2346870" cy="13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Linux kernel devs used various messy methods/tools. Later relied on a proprietary tool called BitKeeper.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7037" y="1865114"/>
            <a:ext cx="2464214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F05032"/>
                </a:solidFill>
                <a:latin typeface="Inter ExtraBold"/>
              </a:rPr>
              <a:t>2005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5709" y="2303264"/>
            <a:ext cx="234687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BitKeeper licensing changed. Linus Torvalds needed a new tool and built Git's first version in weeks.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0747" y="4210050"/>
            <a:ext cx="2464214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F05032"/>
                </a:solidFill>
                <a:latin typeface="Inter ExtraBold"/>
              </a:rPr>
              <a:t>2005 - 2010s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419" y="4648200"/>
            <a:ext cx="234687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Git rapidly evolved. GitHub launched in 2008, propelling Git as the default open-source standard.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24457" y="1865114"/>
            <a:ext cx="2464214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F05032"/>
                </a:solidFill>
                <a:latin typeface="Inter ExtraBold"/>
              </a:rPr>
              <a:t>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3129" y="2303264"/>
            <a:ext cx="234687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The most widely used VCS globally. Standard in Dev, Data Science, DevOps, and enterprise tech.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1135" y="37623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F050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4845" y="37623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F050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68554" y="37623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F050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142264" y="37623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F050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0F172A"/>
                </a:solidFill>
                <a:latin typeface="Inter ExtraBold"/>
              </a:rPr>
              <a:t>History &amp; Evolution of Git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65" y="1466850"/>
            <a:ext cx="3455640" cy="28993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8105" y="1466850"/>
            <a:ext cx="3455640" cy="28993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4245" y="1466850"/>
            <a:ext cx="3455640" cy="289932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5109" y="4556670"/>
            <a:ext cx="3455640" cy="289932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0" y="4556670"/>
            <a:ext cx="3455640" cy="2899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23716" y="2619375"/>
            <a:ext cx="852137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1E293B"/>
                </a:solidFill>
                <a:latin typeface="Inter ExtraBold"/>
              </a:rPr>
              <a:t>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615" y="3057525"/>
            <a:ext cx="296034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Operations run locally, making branching, merging, and commits incredibly fast.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4952" y="2619375"/>
            <a:ext cx="1821946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1E293B"/>
                </a:solidFill>
                <a:latin typeface="Inter ExtraBold"/>
              </a:rPr>
              <a:t>Data Integrity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5755" y="3057525"/>
            <a:ext cx="296034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Every file and commit is checksummed (SHA-1). Impossible to corrupt data unnoticed.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87678" y="2619375"/>
            <a:ext cx="1508626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1E293B"/>
                </a:solidFill>
                <a:latin typeface="Inter ExtraBold"/>
              </a:rPr>
              <a:t>Distributed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1895" y="3057525"/>
            <a:ext cx="296034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Full offline capabilities and no single point of failure for repositories.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8154" y="5709195"/>
            <a:ext cx="264954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1E293B"/>
                </a:solidFill>
                <a:latin typeface="Inter ExtraBold"/>
              </a:rPr>
              <a:t>Powerful Branching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2759" y="6147345"/>
            <a:ext cx="2960340" cy="7106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Non-linear development. Create and merge branches instantly without friction.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53008" y="5709195"/>
            <a:ext cx="732122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1E293B"/>
                </a:solidFill>
                <a:latin typeface="Inter ExtraBold"/>
              </a:rPr>
              <a:t>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6147345"/>
            <a:ext cx="2960340" cy="7106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Designed from day one to handle huge projects (like Linux) and massive teams.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11585" y="1847850"/>
            <a:ext cx="476250" cy="4762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57726" y="1847850"/>
            <a:ext cx="476250" cy="4762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41953" y="1847850"/>
            <a:ext cx="600075" cy="4762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63305" y="4937670"/>
            <a:ext cx="419100" cy="4762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18958" y="4937670"/>
            <a:ext cx="600075" cy="4762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0F172A"/>
                </a:solidFill>
                <a:latin typeface="Inter ExtraBold"/>
              </a:rPr>
              <a:t>Design Goals: Why Was Git Created?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66850"/>
            <a:ext cx="5238750" cy="49196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466850"/>
            <a:ext cx="5238750" cy="49196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582" y="1895475"/>
            <a:ext cx="4680585" cy="466725"/>
          </a:xfrm>
          <a:prstGeom prst="rect">
            <a:avLst/>
          </a:prstGeom>
          <a:noFill/>
        </p:spPr>
        <p:txBody>
          <a:bodyPr wrap="square" lIns="325784" rIns="0" tIns="0" bIns="0" anchor="t">
            <a:spAutoFit/>
          </a:bodyPr>
          <a:lstStyle/>
          <a:p>
            <a:pPr algn="ctr"/>
            <a:r>
              <a:rPr b="0" sz="3000" i="0" u="none">
                <a:solidFill>
                  <a:srgbClr val="1E293B"/>
                </a:solidFill>
                <a:latin typeface="Inter ExtraBold"/>
              </a:rPr>
              <a:t> Git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0832" y="1895475"/>
            <a:ext cx="4680585" cy="466725"/>
          </a:xfrm>
          <a:prstGeom prst="rect">
            <a:avLst/>
          </a:prstGeom>
          <a:noFill/>
        </p:spPr>
        <p:txBody>
          <a:bodyPr wrap="square" lIns="363884" rIns="0" tIns="0" bIns="0" anchor="t">
            <a:spAutoFit/>
          </a:bodyPr>
          <a:lstStyle/>
          <a:p>
            <a:pPr algn="ctr"/>
            <a:r>
              <a:rPr b="0" sz="3000" i="0" u="none">
                <a:solidFill>
                  <a:srgbClr val="1E293B"/>
                </a:solidFill>
                <a:latin typeface="Inter ExtraBold"/>
              </a:rPr>
              <a:t> GitHub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3526" y="1933575"/>
            <a:ext cx="325784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47775" y="2552700"/>
            <a:ext cx="41719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475569"/>
                </a:solidFill>
                <a:latin typeface="Inter"/>
              </a:rPr>
              <a:t>Tool: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The underlying Version Control System software.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7775" y="3375421"/>
            <a:ext cx="41719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Installed locally on your computer.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7775" y="3862982"/>
            <a:ext cx="41719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Tracks changes in your files.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7775" y="4350543"/>
            <a:ext cx="41719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Works offline (locally).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7775" y="4838104"/>
            <a:ext cx="41719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475569"/>
                </a:solidFill>
                <a:latin typeface="Inter"/>
              </a:rPr>
              <a:t>Commands: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git init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, 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git add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, 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git commit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0423" y="1933575"/>
            <a:ext cx="363884" cy="381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58025" y="2552700"/>
            <a:ext cx="41719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475569"/>
                </a:solidFill>
                <a:latin typeface="Inter"/>
              </a:rPr>
              <a:t>Platform: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Cloud-based hosting service for Git repositories.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8025" y="3375421"/>
            <a:ext cx="41719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Accessed via the internet.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8025" y="3862982"/>
            <a:ext cx="41719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Enables remote collaboration and sharing.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8025" y="4350543"/>
            <a:ext cx="41719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Provides UI features: Pull Requests, Issues.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8025" y="5173265"/>
            <a:ext cx="41719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475569"/>
                </a:solidFill>
                <a:latin typeface="Inter"/>
              </a:rPr>
              <a:t>Analogy: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GitHub is to Git what Instagram is to your camera.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025" y="2571750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3394471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025" y="3882032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025" y="4369593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025" y="4857154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2275" y="2571750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72275" y="3394471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72275" y="3882032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2275" y="4369593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72275" y="5192315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0F172A"/>
                </a:solidFill>
                <a:latin typeface="Inter ExtraBold"/>
              </a:rPr>
              <a:t>Clarification: Git vs GitHub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73808"/>
            <a:ext cx="3492549" cy="375225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373808"/>
            <a:ext cx="3492549" cy="375225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373808"/>
            <a:ext cx="3492549" cy="37522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627137"/>
            <a:ext cx="110490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Git manages your local project files across three distinct states.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468" y="3526333"/>
            <a:ext cx="2708463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1E293B"/>
                </a:solidFill>
                <a:latin typeface="Inter ExtraBold"/>
              </a:rPr>
              <a:t>1. Working Directory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964483"/>
            <a:ext cx="2997249" cy="1675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The local folder on your computer. Contains the files you are currently editing, adding, or deleting. (Untracked / Modified files).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7900" y="3526333"/>
            <a:ext cx="2036348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1E293B"/>
                </a:solidFill>
                <a:latin typeface="Inter ExtraBold"/>
              </a:rPr>
              <a:t>2. Staging 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7449" y="3964483"/>
            <a:ext cx="2997249" cy="1675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A preparation zone (index). Files you have explicitly selected to be grouped and included in your very next commit.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1814" y="3526333"/>
            <a:ext cx="220511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1E293B"/>
                </a:solidFill>
                <a:latin typeface="Inter ExtraBold"/>
              </a:rPr>
              <a:t>3. Git 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5749" y="3964483"/>
            <a:ext cx="2997249" cy="1675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The local 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.git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database. Contains the safely saved, committed versions and complete history of your project.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1000" y="2754808"/>
            <a:ext cx="533400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7875" y="2754808"/>
            <a:ext cx="476250" cy="4762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64749" y="2754808"/>
            <a:ext cx="41910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0F172A"/>
                </a:solidFill>
                <a:latin typeface="Inter ExtraBold"/>
              </a:rPr>
              <a:t>Core Concept: Three Areas of Git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66850"/>
            <a:ext cx="11049000" cy="5867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0F172A"/>
                </a:solidFill>
                <a:latin typeface="Inter ExtraBold"/>
              </a:rPr>
              <a:t>The Git Flow Diagram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547121"/>
            <a:ext cx="2346870" cy="41716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5709" y="3547020"/>
            <a:ext cx="2346870" cy="41716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419" y="5882282"/>
            <a:ext cx="2346870" cy="41716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3129" y="3547020"/>
            <a:ext cx="2346870" cy="4171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3455640"/>
            <a:ext cx="110490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475569"/>
                </a:solidFill>
                <a:latin typeface="Inter"/>
              </a:rPr>
              <a:t>Suppose we create a new file called </a:t>
            </a:r>
            <a:r>
              <a:rPr b="0" sz="1800" i="0" u="none">
                <a:solidFill>
                  <a:srgbClr val="475569"/>
                </a:solidFill>
                <a:latin typeface="Inter"/>
              </a:rPr>
              <a:t>index.html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4268985"/>
            <a:ext cx="11049000" cy="571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3328" y="4630935"/>
            <a:ext cx="2464214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1E293B"/>
                </a:solidFill>
                <a:latin typeface="Inter ExtraBold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5069085"/>
            <a:ext cx="234687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Create/modify the file.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7037" y="2295673"/>
            <a:ext cx="2464214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1E293B"/>
                </a:solidFill>
                <a:latin typeface="Inter ExtraBold"/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5709" y="2733823"/>
            <a:ext cx="234687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Run 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git add index.html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0747" y="4630935"/>
            <a:ext cx="2464214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1E293B"/>
                </a:solidFill>
                <a:latin typeface="Inter ExtraBold"/>
              </a:rP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419" y="5069085"/>
            <a:ext cx="234687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Run 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git commit -m "Added index"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4457" y="2630834"/>
            <a:ext cx="2464214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1E293B"/>
                </a:solidFill>
                <a:latin typeface="Inter ExtraBold"/>
              </a:rPr>
              <a:t>Step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3129" y="3068984"/>
            <a:ext cx="234687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Run 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git push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1135" y="418326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F050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94845" y="418326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F050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68554" y="418326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F050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142264" y="418326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F050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0F172A"/>
                </a:solidFill>
                <a:latin typeface="Inter ExtraBold"/>
              </a:rPr>
              <a:t>Example: Tracking a File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78831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125" y="2059781"/>
            <a:ext cx="481012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F172A"/>
                </a:solidFill>
                <a:latin typeface="Inter"/>
              </a:rPr>
              <a:t>Repository (Repo):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A directory/project managed by Git, including its history.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987278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2968228"/>
            <a:ext cx="481012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F172A"/>
                </a:solidFill>
                <a:latin typeface="Inter"/>
              </a:rPr>
              <a:t>Commit: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A saved snapshot of your file changes at a specific point in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895725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876675"/>
            <a:ext cx="481012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F172A"/>
                </a:solidFill>
                <a:latin typeface="Inter"/>
              </a:rPr>
              <a:t>Branch: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An independent, parallel line of development within the repository.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804171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4785121"/>
            <a:ext cx="481012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F172A"/>
                </a:solidFill>
                <a:latin typeface="Inter"/>
              </a:rPr>
              <a:t>Merge: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Combining changes from one branch into another branch.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0" y="2078831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0375" y="2059781"/>
            <a:ext cx="481012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F172A"/>
                </a:solidFill>
                <a:latin typeface="Inter"/>
              </a:rPr>
              <a:t>Clone: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Downloading a full copy of a remote repository to your local machine.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1750" y="2987278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0375" y="2968228"/>
            <a:ext cx="481012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F172A"/>
                </a:solidFill>
                <a:latin typeface="Inter"/>
              </a:rPr>
              <a:t>Push: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Uploading your local commits to a remote repository (like GitHub).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1750" y="3895725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0375" y="3876675"/>
            <a:ext cx="481012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F172A"/>
                </a:solidFill>
                <a:latin typeface="Inter"/>
              </a:rPr>
              <a:t>Pull: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Downloading new changes from a remote repository and instantly integrating them.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1750" y="4804171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0375" y="4785121"/>
            <a:ext cx="481012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F172A"/>
                </a:solidFill>
                <a:latin typeface="Inter"/>
              </a:rPr>
              <a:t>Fetch: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Downloading remote changes </a:t>
            </a:r>
            <a:r>
              <a:rPr b="0" sz="1650" i="1" u="none">
                <a:solidFill>
                  <a:srgbClr val="475569"/>
                </a:solidFill>
                <a:latin typeface="Inter"/>
              </a:rPr>
              <a:t>without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merging them into your local branch.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93118"/>
            <a:ext cx="276225" cy="2571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01565"/>
            <a:ext cx="247650" cy="2571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10012"/>
            <a:ext cx="219075" cy="2571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818459"/>
            <a:ext cx="219075" cy="2571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750" y="2093118"/>
            <a:ext cx="247650" cy="2571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1750" y="3001565"/>
            <a:ext cx="219075" cy="2571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1750" y="3910012"/>
            <a:ext cx="247650" cy="2571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1750" y="4818459"/>
            <a:ext cx="314325" cy="2571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0F172A"/>
                </a:solidFill>
                <a:latin typeface="Inter ExtraBold"/>
              </a:rPr>
              <a:t>Crucial Git Terminology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971675"/>
            <a:ext cx="52387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773138"/>
            <a:ext cx="52387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This standard loop will be used throughout your development career: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971675"/>
            <a:ext cx="5238750" cy="381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700635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2681585"/>
            <a:ext cx="4333875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F172A"/>
                </a:solidFill>
                <a:latin typeface="Inter"/>
              </a:rPr>
              <a:t>Modify: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Edit files in your working directory.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273921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3254871"/>
            <a:ext cx="481012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F172A"/>
                </a:solidFill>
                <a:latin typeface="Inter"/>
              </a:rPr>
              <a:t>Stage: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Select specific changes using 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git add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to prepare for a commit.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182367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163317"/>
            <a:ext cx="481012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F172A"/>
                </a:solidFill>
                <a:latin typeface="Inter"/>
              </a:rPr>
              <a:t>Commit: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Snapshot the staged files into your local repo using 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git commit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090814"/>
            <a:ext cx="104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F05032"/>
                </a:solidFill>
                <a:latin typeface="Inter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5071764"/>
            <a:ext cx="481012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F172A"/>
                </a:solidFill>
                <a:latin typeface="Inter"/>
              </a:rPr>
              <a:t>Push: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Sync your local history to GitHub using 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git push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for backup and collaboration.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14922"/>
            <a:ext cx="123825" cy="2571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288208"/>
            <a:ext cx="161925" cy="2571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196655"/>
            <a:ext cx="161925" cy="2571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105102"/>
            <a:ext cx="190500" cy="2571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0F172A"/>
                </a:solidFill>
                <a:latin typeface="Inter ExtraBold"/>
              </a:rPr>
              <a:t>The Standard Git Workflow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1727299"/>
            <a:ext cx="8572500" cy="4298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76525" y="2108299"/>
            <a:ext cx="6238875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F172A"/>
                </a:solidFill>
                <a:latin typeface="Inter"/>
              </a:rPr>
              <a:t>Version Control: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Tracks file changes systematically over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76525" y="2681585"/>
            <a:ext cx="732472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F172A"/>
                </a:solidFill>
                <a:latin typeface="Inter"/>
              </a:rPr>
              <a:t>CVCS vs DVCS: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Centralized relies on one server; Distributed gives everyone a full copy.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76525" y="3590032"/>
            <a:ext cx="732472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F172A"/>
                </a:solidFill>
                <a:latin typeface="Inter"/>
              </a:rPr>
              <a:t>Git: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A Distributed Version Control System created by Linus Torvalds in 2005.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6525" y="4498478"/>
            <a:ext cx="7277844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F172A"/>
                </a:solidFill>
                <a:latin typeface="Inter"/>
              </a:rPr>
              <a:t>Git ≠ GitHub: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Git is the local CLI tool; GitHub is the cloud hosting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6525" y="5071764"/>
            <a:ext cx="6410325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F172A"/>
                </a:solidFill>
                <a:latin typeface="Inter"/>
              </a:rPr>
              <a:t>Three Areas: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Working Directory, Staging Area, Local Repository.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900" y="2141636"/>
            <a:ext cx="219075" cy="2571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900" y="2714922"/>
            <a:ext cx="219075" cy="2571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900" y="3623369"/>
            <a:ext cx="219075" cy="2571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900" y="4531816"/>
            <a:ext cx="219075" cy="2571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900" y="5105102"/>
            <a:ext cx="219075" cy="2571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0F172A"/>
                </a:solidFill>
                <a:latin typeface="Inter ExtraBold"/>
              </a:rPr>
              <a:t>Session 1: Quick Recap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571500"/>
            <a:ext cx="116014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4500" i="0" u="none">
                <a:solidFill>
                  <a:srgbClr val="F05032"/>
                </a:solidFill>
                <a:latin typeface="Inter ExtraBold"/>
              </a:rPr>
              <a:t>Quick Knowledge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638300"/>
            <a:ext cx="7620000" cy="375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475569"/>
                </a:solidFill>
                <a:latin typeface="Inter SemiBold"/>
              </a:rPr>
              <a:t>1. What is Version Control?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2099220"/>
            <a:ext cx="7620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2251620"/>
            <a:ext cx="7620000" cy="375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475569"/>
                </a:solidFill>
                <a:latin typeface="Inter SemiBold"/>
              </a:rPr>
              <a:t>2. Give two examples of a Centralized VCS (CVCS).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2712541"/>
            <a:ext cx="7620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2864941"/>
            <a:ext cx="7620000" cy="375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475569"/>
                </a:solidFill>
                <a:latin typeface="Inter SemiBold"/>
              </a:rPr>
              <a:t>3. Is Git centralized or distributed?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3325862"/>
            <a:ext cx="7620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3478262"/>
            <a:ext cx="7620000" cy="375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475569"/>
                </a:solidFill>
                <a:latin typeface="Inter SemiBold"/>
              </a:rPr>
              <a:t>4. What is the fundamental difference between Git and GitHub?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3939182"/>
            <a:ext cx="7620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4091582"/>
            <a:ext cx="7620000" cy="375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475569"/>
                </a:solidFill>
                <a:latin typeface="Inter SemiBold"/>
              </a:rPr>
              <a:t>5. What does the command </a:t>
            </a:r>
            <a:r>
              <a:rPr b="0" sz="1800" i="0" u="none">
                <a:solidFill>
                  <a:srgbClr val="475569"/>
                </a:solidFill>
                <a:latin typeface="Inter SemiBold"/>
              </a:rPr>
              <a:t>git add</a:t>
            </a:r>
            <a:r>
              <a:rPr b="0" sz="1800" i="0" u="none">
                <a:solidFill>
                  <a:srgbClr val="475569"/>
                </a:solidFill>
                <a:latin typeface="Inter SemiBold"/>
              </a:rPr>
              <a:t> do?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4552503"/>
            <a:ext cx="7620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4704903"/>
            <a:ext cx="7620000" cy="375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475569"/>
                </a:solidFill>
                <a:latin typeface="Inter SemiBold"/>
              </a:rPr>
              <a:t>6. What are the three primary state areas in Git?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5165824"/>
            <a:ext cx="7620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5318224"/>
            <a:ext cx="76200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475569"/>
                </a:solidFill>
                <a:latin typeface="Inter SemiBold"/>
              </a:rPr>
              <a:t>7. What does </a:t>
            </a:r>
            <a:r>
              <a:rPr b="0" sz="1800" i="0" u="none">
                <a:solidFill>
                  <a:srgbClr val="475569"/>
                </a:solidFill>
                <a:latin typeface="Inter SemiBold"/>
              </a:rPr>
              <a:t>git push</a:t>
            </a:r>
            <a:r>
              <a:rPr b="0" sz="1800" i="0" u="none">
                <a:solidFill>
                  <a:srgbClr val="475569"/>
                </a:solidFill>
                <a:latin typeface="Inter SemiBold"/>
              </a:rPr>
              <a:t> do?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266950"/>
            <a:ext cx="4572000" cy="4524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762000"/>
            <a:ext cx="4800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0F172A"/>
                </a:solidFill>
                <a:latin typeface="Inter ExtraBold"/>
              </a:rPr>
              <a:t>Hands-On: First Repo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1466850"/>
            <a:ext cx="4572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Let's transition to practical application. Open your terminal and follow along: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2486025"/>
            <a:ext cx="2571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00" i="1" u="none">
                <a:solidFill>
                  <a:srgbClr val="64748B"/>
                </a:solidFill>
                <a:latin typeface="Fira Code"/>
              </a:rPr>
              <a:t># Check if Git is installed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2744985"/>
            <a:ext cx="95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00" i="0" u="none">
                <a:solidFill>
                  <a:srgbClr val="A855F7"/>
                </a:solidFill>
                <a:latin typeface="Fira Code"/>
              </a:rPr>
              <a:t>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744985"/>
            <a:ext cx="1238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00" i="0" u="none">
                <a:solidFill>
                  <a:srgbClr val="10B981"/>
                </a:solidFill>
                <a:latin typeface="Fira Code SemiBold"/>
              </a:rPr>
              <a:t>git --version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262907"/>
            <a:ext cx="3524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00" i="1" u="none">
                <a:solidFill>
                  <a:srgbClr val="64748B"/>
                </a:solidFill>
                <a:latin typeface="Fira Code"/>
              </a:rPr>
              <a:t># Configure your global user settings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3521868"/>
            <a:ext cx="95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00" i="0" u="none">
                <a:solidFill>
                  <a:srgbClr val="A855F7"/>
                </a:solidFill>
                <a:latin typeface="Fira Code"/>
              </a:rPr>
              <a:t>$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521868"/>
            <a:ext cx="3905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00" i="0" u="none">
                <a:solidFill>
                  <a:srgbClr val="10B981"/>
                </a:solidFill>
                <a:latin typeface="Fira Code SemiBold"/>
              </a:rPr>
              <a:t>git config --global user.name "Your Name"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3780829"/>
            <a:ext cx="95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00" i="0" u="none">
                <a:solidFill>
                  <a:srgbClr val="A855F7"/>
                </a:solidFill>
                <a:latin typeface="Fira Code"/>
              </a:rPr>
              <a:t>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3780829"/>
            <a:ext cx="3048000" cy="4589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00" i="0" u="none">
                <a:solidFill>
                  <a:srgbClr val="10B981"/>
                </a:solidFill>
                <a:latin typeface="Fira Code SemiBold"/>
              </a:rPr>
              <a:t>git config --global user.email "your@email.com"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4557712"/>
            <a:ext cx="4000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00" i="1" u="none">
                <a:solidFill>
                  <a:srgbClr val="64748B"/>
                </a:solidFill>
                <a:latin typeface="Fira Code"/>
              </a:rPr>
              <a:t># Create and enter a new project directory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4816673"/>
            <a:ext cx="95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00" i="0" u="none">
                <a:solidFill>
                  <a:srgbClr val="A855F7"/>
                </a:solidFill>
                <a:latin typeface="Fira Code"/>
              </a:rPr>
              <a:t>$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816673"/>
            <a:ext cx="1619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00" i="0" u="none">
                <a:solidFill>
                  <a:srgbClr val="10B981"/>
                </a:solidFill>
                <a:latin typeface="Fira Code SemiBold"/>
              </a:rPr>
              <a:t>mkdir git-project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" y="5075634"/>
            <a:ext cx="95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00" i="0" u="none">
                <a:solidFill>
                  <a:srgbClr val="A855F7"/>
                </a:solidFill>
                <a:latin typeface="Fira Code"/>
              </a:rPr>
              <a:t>$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075634"/>
            <a:ext cx="1333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00" i="0" u="none">
                <a:solidFill>
                  <a:srgbClr val="10B981"/>
                </a:solidFill>
                <a:latin typeface="Fira Code SemiBold"/>
              </a:rPr>
              <a:t>cd git-project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500" y="5593556"/>
            <a:ext cx="3524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00" i="1" u="none">
                <a:solidFill>
                  <a:srgbClr val="64748B"/>
                </a:solidFill>
                <a:latin typeface="Fira Code"/>
              </a:rPr>
              <a:t># Initialize the empty Git repository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" y="5852517"/>
            <a:ext cx="95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00" i="0" u="none">
                <a:solidFill>
                  <a:srgbClr val="A855F7"/>
                </a:solidFill>
                <a:latin typeface="Fira Code"/>
              </a:rPr>
              <a:t>$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852517"/>
            <a:ext cx="762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00" i="0" u="none">
                <a:solidFill>
                  <a:srgbClr val="10B981"/>
                </a:solidFill>
                <a:latin typeface="Fira Code SemiBold"/>
              </a:rPr>
              <a:t>git init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500" y="6111478"/>
            <a:ext cx="3905250" cy="4589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00" i="0" u="none">
                <a:solidFill>
                  <a:srgbClr val="64748B"/>
                </a:solidFill>
                <a:latin typeface="Fira Code"/>
              </a:rPr>
              <a:t>Initialized empty Git repository in /git-project/.git/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466850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251620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234481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4019252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4804023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24209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24209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22495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322495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400972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400972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479449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479449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557926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557926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16273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1609725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https://images.stockcake.com/public/c/c/c/ccc3a7ee-fd94-4111-9352-6cf202c1aab7_large/students-using-laptops-stockcake.jpg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1855440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stockcake.com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00163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2394495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https://cdn-dynmedia-1.microsoft.com/is/image/microsoftcorp/PCA21_Contextual_1484_RGB?resMode=sharp2&amp;op_usm=1.5,0.65,15,0&amp;wid=752&amp;hei=580&amp;qlt=100&amp;fmt=png-alpha&amp;fit=constrain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2838301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www.microsoft.com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83905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66875" y="3377356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https://png.pngtree.com/png-vector/20260310/ourlarge/pngtree-desktop-computer-system-icon-vector-png-image_18882496.webp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3623071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pngtree.com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68675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66875" y="4162127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https://synchronet.net/wp-content/uploads/2025/03/star-topology.jpeg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4407842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synchronet.net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953446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66875" y="4946898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https://png.pngtree.com/png-clipart/20230813/original/pngtree-distribution-network-flat-icon-internet-technology-node-vector-png-image_10316417.png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6875" y="5192613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pngtree.com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738217"/>
            <a:ext cx="857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666875" y="5731668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https://nvie.com/img/git-model@2x.png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6875" y="5977383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nvie.com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0F172A"/>
                </a:solidFill>
                <a:latin typeface="Inter ExtraBold"/>
              </a:rPr>
              <a:t>Image Sources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3096666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8719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8719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4609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6875" y="3239541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https://images.stockcake.com/public/5/7/b/57bfe6ac-e248-4b4d-b9ee-086d261513eb_medium/night-programming-session-stockcake.jpg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348525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stockcake.com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30860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402431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https://png.pngtree.com/thumb_back/fh260/background/20260619/pngtree-abstract-digital-network-with-glowing-nodes-and-connections-image_21938351.webp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427002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pngtree.com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0F172A"/>
                </a:solidFill>
                <a:latin typeface="Inter ExtraBold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